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7" r:id="rId4"/>
    <p:sldId id="261" r:id="rId5"/>
    <p:sldId id="264" r:id="rId6"/>
    <p:sldId id="263" r:id="rId7"/>
    <p:sldId id="265" r:id="rId8"/>
    <p:sldId id="266" r:id="rId9"/>
    <p:sldId id="262" r:id="rId10"/>
    <p:sldId id="26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8" d="100"/>
          <a:sy n="48" d="100"/>
        </p:scale>
        <p:origin x="38" y="9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7097769-E7DD-4F65-B93B-8A48AD79F56F}"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BA399-1900-4EF0-BFD2-D49A657EAF65}" type="slidenum">
              <a:rPr lang="en-IN" smtClean="0"/>
              <a:t>‹#›</a:t>
            </a:fld>
            <a:endParaRPr lang="en-IN"/>
          </a:p>
        </p:txBody>
      </p:sp>
    </p:spTree>
    <p:extLst>
      <p:ext uri="{BB962C8B-B14F-4D97-AF65-F5344CB8AC3E}">
        <p14:creationId xmlns:p14="http://schemas.microsoft.com/office/powerpoint/2010/main" val="31921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7097769-E7DD-4F65-B93B-8A48AD79F56F}"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BA399-1900-4EF0-BFD2-D49A657EAF65}" type="slidenum">
              <a:rPr lang="en-IN" smtClean="0"/>
              <a:t>‹#›</a:t>
            </a:fld>
            <a:endParaRPr lang="en-IN"/>
          </a:p>
        </p:txBody>
      </p:sp>
    </p:spTree>
    <p:extLst>
      <p:ext uri="{BB962C8B-B14F-4D97-AF65-F5344CB8AC3E}">
        <p14:creationId xmlns:p14="http://schemas.microsoft.com/office/powerpoint/2010/main" val="776156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097769-E7DD-4F65-B93B-8A48AD79F56F}"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BA399-1900-4EF0-BFD2-D49A657EAF65}" type="slidenum">
              <a:rPr lang="en-IN" smtClean="0"/>
              <a:t>‹#›</a:t>
            </a:fld>
            <a:endParaRPr lang="en-IN"/>
          </a:p>
        </p:txBody>
      </p:sp>
    </p:spTree>
    <p:extLst>
      <p:ext uri="{BB962C8B-B14F-4D97-AF65-F5344CB8AC3E}">
        <p14:creationId xmlns:p14="http://schemas.microsoft.com/office/powerpoint/2010/main" val="3336909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7097769-E7DD-4F65-B93B-8A48AD79F56F}" type="datetimeFigureOut">
              <a:rPr lang="en-IN" smtClean="0"/>
              <a:t>28-02-2025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ABA399-1900-4EF0-BFD2-D49A657EAF65}" type="slidenum">
              <a:rPr lang="en-IN" smtClean="0"/>
              <a:t>‹#›</a:t>
            </a:fld>
            <a:endParaRPr lang="en-IN"/>
          </a:p>
        </p:txBody>
      </p:sp>
    </p:spTree>
    <p:extLst>
      <p:ext uri="{BB962C8B-B14F-4D97-AF65-F5344CB8AC3E}">
        <p14:creationId xmlns:p14="http://schemas.microsoft.com/office/powerpoint/2010/main" val="3123309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7097769-E7DD-4F65-B93B-8A48AD79F56F}" type="datetimeFigureOut">
              <a:rPr lang="en-IN" smtClean="0"/>
              <a:t>28-02-2025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ABA399-1900-4EF0-BFD2-D49A657EAF65}" type="slidenum">
              <a:rPr lang="en-IN" smtClean="0"/>
              <a:t>‹#›</a:t>
            </a:fld>
            <a:endParaRPr lang="en-IN"/>
          </a:p>
        </p:txBody>
      </p:sp>
    </p:spTree>
    <p:extLst>
      <p:ext uri="{BB962C8B-B14F-4D97-AF65-F5344CB8AC3E}">
        <p14:creationId xmlns:p14="http://schemas.microsoft.com/office/powerpoint/2010/main" val="3009125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7097769-E7DD-4F65-B93B-8A48AD79F56F}" type="datetimeFigureOut">
              <a:rPr lang="en-IN" smtClean="0"/>
              <a:t>28-02-2025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ABA399-1900-4EF0-BFD2-D49A657EAF65}" type="slidenum">
              <a:rPr lang="en-IN" smtClean="0"/>
              <a:t>‹#›</a:t>
            </a:fld>
            <a:endParaRPr lang="en-IN"/>
          </a:p>
        </p:txBody>
      </p:sp>
    </p:spTree>
    <p:extLst>
      <p:ext uri="{BB962C8B-B14F-4D97-AF65-F5344CB8AC3E}">
        <p14:creationId xmlns:p14="http://schemas.microsoft.com/office/powerpoint/2010/main" val="1653626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097769-E7DD-4F65-B93B-8A48AD79F56F}" type="datetimeFigureOut">
              <a:rPr lang="en-IN" smtClean="0"/>
              <a:t>28-02-2025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ABA399-1900-4EF0-BFD2-D49A657EAF65}" type="slidenum">
              <a:rPr lang="en-IN" smtClean="0"/>
              <a:t>‹#›</a:t>
            </a:fld>
            <a:endParaRPr lang="en-IN"/>
          </a:p>
        </p:txBody>
      </p:sp>
    </p:spTree>
    <p:extLst>
      <p:ext uri="{BB962C8B-B14F-4D97-AF65-F5344CB8AC3E}">
        <p14:creationId xmlns:p14="http://schemas.microsoft.com/office/powerpoint/2010/main" val="207825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097769-E7DD-4F65-B93B-8A48AD79F56F}" type="datetimeFigureOut">
              <a:rPr lang="en-IN" smtClean="0"/>
              <a:t>28-02-2025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ABA399-1900-4EF0-BFD2-D49A657EAF65}" type="slidenum">
              <a:rPr lang="en-IN" smtClean="0"/>
              <a:t>‹#›</a:t>
            </a:fld>
            <a:endParaRPr lang="en-IN"/>
          </a:p>
        </p:txBody>
      </p:sp>
    </p:spTree>
    <p:extLst>
      <p:ext uri="{BB962C8B-B14F-4D97-AF65-F5344CB8AC3E}">
        <p14:creationId xmlns:p14="http://schemas.microsoft.com/office/powerpoint/2010/main" val="1057394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097769-E7DD-4F65-B93B-8A48AD79F56F}" type="datetimeFigureOut">
              <a:rPr lang="en-IN" smtClean="0"/>
              <a:t>28-02-2025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ABA399-1900-4EF0-BFD2-D49A657EAF65}" type="slidenum">
              <a:rPr lang="en-IN" smtClean="0"/>
              <a:t>‹#›</a:t>
            </a:fld>
            <a:endParaRPr lang="en-IN"/>
          </a:p>
        </p:txBody>
      </p:sp>
    </p:spTree>
    <p:extLst>
      <p:ext uri="{BB962C8B-B14F-4D97-AF65-F5344CB8AC3E}">
        <p14:creationId xmlns:p14="http://schemas.microsoft.com/office/powerpoint/2010/main" val="3247522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7097769-E7DD-4F65-B93B-8A48AD79F56F}"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BA399-1900-4EF0-BFD2-D49A657EAF65}" type="slidenum">
              <a:rPr lang="en-IN" smtClean="0"/>
              <a:t>‹#›</a:t>
            </a:fld>
            <a:endParaRPr lang="en-IN"/>
          </a:p>
        </p:txBody>
      </p:sp>
    </p:spTree>
    <p:extLst>
      <p:ext uri="{BB962C8B-B14F-4D97-AF65-F5344CB8AC3E}">
        <p14:creationId xmlns:p14="http://schemas.microsoft.com/office/powerpoint/2010/main" val="407117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7097769-E7DD-4F65-B93B-8A48AD79F56F}"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ABA399-1900-4EF0-BFD2-D49A657EAF65}" type="slidenum">
              <a:rPr lang="en-IN" smtClean="0"/>
              <a:t>‹#›</a:t>
            </a:fld>
            <a:endParaRPr lang="en-IN"/>
          </a:p>
        </p:txBody>
      </p:sp>
    </p:spTree>
    <p:extLst>
      <p:ext uri="{BB962C8B-B14F-4D97-AF65-F5344CB8AC3E}">
        <p14:creationId xmlns:p14="http://schemas.microsoft.com/office/powerpoint/2010/main" val="4363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097769-E7DD-4F65-B93B-8A48AD79F56F}" type="datetimeFigureOut">
              <a:rPr lang="en-IN" smtClean="0"/>
              <a:t>28-02-2025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ABA399-1900-4EF0-BFD2-D49A657EAF65}" type="slidenum">
              <a:rPr lang="en-IN" smtClean="0"/>
              <a:t>‹#›</a:t>
            </a:fld>
            <a:endParaRPr lang="en-IN"/>
          </a:p>
        </p:txBody>
      </p:sp>
    </p:spTree>
    <p:extLst>
      <p:ext uri="{BB962C8B-B14F-4D97-AF65-F5344CB8AC3E}">
        <p14:creationId xmlns:p14="http://schemas.microsoft.com/office/powerpoint/2010/main" val="838912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22638" y="388797"/>
            <a:ext cx="9671548" cy="256480"/>
          </a:xfrm>
          <a:prstGeom prst="rect">
            <a:avLst/>
          </a:prstGeom>
        </p:spPr>
        <p:txBody>
          <a:bodyPr lIns="0" tIns="0" rIns="0" bIns="0" rtlCol="0" anchor="t">
            <a:spAutoFit/>
          </a:bodyPr>
          <a:lstStyle/>
          <a:p>
            <a:pPr>
              <a:lnSpc>
                <a:spcPts val="1999"/>
              </a:lnSpc>
            </a:pPr>
            <a:r>
              <a:rPr lang="en-US" sz="1666" dirty="0">
                <a:solidFill>
                  <a:srgbClr val="000000"/>
                </a:solidFill>
                <a:latin typeface="Telegraf"/>
                <a:ea typeface="Telegraf"/>
                <a:cs typeface="Telegraf"/>
                <a:sym typeface="Telegraf"/>
              </a:rPr>
              <a:t>ASEP PROJECT 1-PPT FOR END SEMESTER ASSESSMENT- 1</a:t>
            </a:r>
            <a:r>
              <a:rPr lang="en-US" sz="1666" baseline="30000" dirty="0">
                <a:solidFill>
                  <a:srgbClr val="000000"/>
                </a:solidFill>
                <a:latin typeface="Telegraf"/>
                <a:ea typeface="Telegraf"/>
                <a:cs typeface="Telegraf"/>
                <a:sym typeface="Telegraf"/>
              </a:rPr>
              <a:t>ST</a:t>
            </a:r>
            <a:r>
              <a:rPr lang="en-US" sz="1666" dirty="0">
                <a:solidFill>
                  <a:srgbClr val="000000"/>
                </a:solidFill>
                <a:latin typeface="Telegraf"/>
                <a:ea typeface="Telegraf"/>
                <a:cs typeface="Telegraf"/>
                <a:sym typeface="Telegraf"/>
              </a:rPr>
              <a:t> MARCH 2025</a:t>
            </a:r>
          </a:p>
        </p:txBody>
      </p:sp>
      <p:sp>
        <p:nvSpPr>
          <p:cNvPr id="3" name="TextBox 3"/>
          <p:cNvSpPr txBox="1"/>
          <p:nvPr/>
        </p:nvSpPr>
        <p:spPr>
          <a:xfrm>
            <a:off x="427492" y="1319931"/>
            <a:ext cx="2540257" cy="512961"/>
          </a:xfrm>
          <a:prstGeom prst="rect">
            <a:avLst/>
          </a:prstGeom>
        </p:spPr>
        <p:txBody>
          <a:bodyPr lIns="0" tIns="0" rIns="0" bIns="0" rtlCol="0" anchor="t">
            <a:spAutoFit/>
          </a:bodyPr>
          <a:lstStyle/>
          <a:p>
            <a:pPr>
              <a:lnSpc>
                <a:spcPts val="1999"/>
              </a:lnSpc>
            </a:pPr>
            <a:r>
              <a:rPr lang="en-US" sz="1666" dirty="0">
                <a:solidFill>
                  <a:srgbClr val="000000"/>
                </a:solidFill>
                <a:latin typeface="Telegraf"/>
                <a:ea typeface="Telegraf"/>
                <a:cs typeface="Telegraf"/>
                <a:sym typeface="Telegraf"/>
              </a:rPr>
              <a:t>ASEP 1 PROJECT_TITLE:-</a:t>
            </a:r>
          </a:p>
        </p:txBody>
      </p:sp>
      <p:sp>
        <p:nvSpPr>
          <p:cNvPr id="4" name="TextBox 4"/>
          <p:cNvSpPr txBox="1"/>
          <p:nvPr/>
        </p:nvSpPr>
        <p:spPr>
          <a:xfrm>
            <a:off x="3352801" y="1188645"/>
            <a:ext cx="5419727" cy="718145"/>
          </a:xfrm>
          <a:prstGeom prst="rect">
            <a:avLst/>
          </a:prstGeom>
        </p:spPr>
        <p:txBody>
          <a:bodyPr lIns="0" tIns="0" rIns="0" bIns="0" rtlCol="0" anchor="t">
            <a:spAutoFit/>
          </a:bodyPr>
          <a:lstStyle/>
          <a:p>
            <a:pPr>
              <a:lnSpc>
                <a:spcPts val="2800"/>
              </a:lnSpc>
            </a:pPr>
            <a:r>
              <a:rPr lang="en-US" sz="2333" b="1" u="sng" dirty="0">
                <a:solidFill>
                  <a:srgbClr val="000000"/>
                </a:solidFill>
                <a:latin typeface="Telegraf Bold"/>
                <a:ea typeface="Telegraf Bold"/>
                <a:cs typeface="Telegraf Bold"/>
                <a:sym typeface="Telegraf Bold"/>
              </a:rPr>
              <a:t>ESP32-Based Smart Air Purifier with IOT Integration</a:t>
            </a:r>
          </a:p>
        </p:txBody>
      </p:sp>
      <p:sp>
        <p:nvSpPr>
          <p:cNvPr id="5" name="TextBox 5"/>
          <p:cNvSpPr txBox="1"/>
          <p:nvPr/>
        </p:nvSpPr>
        <p:spPr>
          <a:xfrm>
            <a:off x="2652403" y="2237868"/>
            <a:ext cx="2422903" cy="256480"/>
          </a:xfrm>
          <a:prstGeom prst="rect">
            <a:avLst/>
          </a:prstGeom>
        </p:spPr>
        <p:txBody>
          <a:bodyPr lIns="0" tIns="0" rIns="0" bIns="0" rtlCol="0" anchor="t">
            <a:spAutoFit/>
          </a:bodyPr>
          <a:lstStyle/>
          <a:p>
            <a:pPr>
              <a:lnSpc>
                <a:spcPts val="1999"/>
              </a:lnSpc>
            </a:pPr>
            <a:r>
              <a:rPr lang="en-US" sz="1666">
                <a:solidFill>
                  <a:srgbClr val="000000"/>
                </a:solidFill>
                <a:latin typeface="Telegraf"/>
                <a:ea typeface="Telegraf"/>
                <a:cs typeface="Telegraf"/>
                <a:sym typeface="Telegraf"/>
              </a:rPr>
              <a:t>ASEP_GROUP NO. :- 2</a:t>
            </a:r>
          </a:p>
        </p:txBody>
      </p:sp>
      <p:sp>
        <p:nvSpPr>
          <p:cNvPr id="6" name="TextBox 6"/>
          <p:cNvSpPr txBox="1"/>
          <p:nvPr/>
        </p:nvSpPr>
        <p:spPr>
          <a:xfrm>
            <a:off x="427492" y="2237868"/>
            <a:ext cx="939093" cy="256480"/>
          </a:xfrm>
          <a:prstGeom prst="rect">
            <a:avLst/>
          </a:prstGeom>
        </p:spPr>
        <p:txBody>
          <a:bodyPr lIns="0" tIns="0" rIns="0" bIns="0" rtlCol="0" anchor="t">
            <a:spAutoFit/>
          </a:bodyPr>
          <a:lstStyle/>
          <a:p>
            <a:pPr>
              <a:lnSpc>
                <a:spcPts val="1999"/>
              </a:lnSpc>
            </a:pPr>
            <a:r>
              <a:rPr lang="en-US" sz="1666">
                <a:solidFill>
                  <a:srgbClr val="000000"/>
                </a:solidFill>
                <a:latin typeface="Telegraf"/>
                <a:ea typeface="Telegraf"/>
                <a:cs typeface="Telegraf"/>
                <a:sym typeface="Telegraf"/>
              </a:rPr>
              <a:t>DIV :- B</a:t>
            </a:r>
          </a:p>
        </p:txBody>
      </p:sp>
      <p:sp>
        <p:nvSpPr>
          <p:cNvPr id="7" name="TextBox 7"/>
          <p:cNvSpPr txBox="1"/>
          <p:nvPr/>
        </p:nvSpPr>
        <p:spPr>
          <a:xfrm>
            <a:off x="5822424" y="2237868"/>
            <a:ext cx="1594376" cy="256480"/>
          </a:xfrm>
          <a:prstGeom prst="rect">
            <a:avLst/>
          </a:prstGeom>
        </p:spPr>
        <p:txBody>
          <a:bodyPr wrap="square" lIns="0" tIns="0" rIns="0" bIns="0" rtlCol="0" anchor="t">
            <a:spAutoFit/>
          </a:bodyPr>
          <a:lstStyle/>
          <a:p>
            <a:pPr>
              <a:lnSpc>
                <a:spcPts val="1999"/>
              </a:lnSpc>
            </a:pPr>
            <a:r>
              <a:rPr lang="en-US" sz="1666" dirty="0">
                <a:solidFill>
                  <a:srgbClr val="000000"/>
                </a:solidFill>
                <a:latin typeface="Telegraf"/>
                <a:ea typeface="Telegraf"/>
                <a:cs typeface="Telegraf"/>
                <a:sym typeface="Telegraf"/>
              </a:rPr>
              <a:t>DAY :- Saturday</a:t>
            </a:r>
          </a:p>
        </p:txBody>
      </p:sp>
      <p:sp>
        <p:nvSpPr>
          <p:cNvPr id="8" name="TextBox 8"/>
          <p:cNvSpPr txBox="1"/>
          <p:nvPr/>
        </p:nvSpPr>
        <p:spPr>
          <a:xfrm>
            <a:off x="8347553" y="2242234"/>
            <a:ext cx="2066447" cy="256480"/>
          </a:xfrm>
          <a:prstGeom prst="rect">
            <a:avLst/>
          </a:prstGeom>
        </p:spPr>
        <p:txBody>
          <a:bodyPr wrap="square" lIns="0" tIns="0" rIns="0" bIns="0" rtlCol="0" anchor="t">
            <a:spAutoFit/>
          </a:bodyPr>
          <a:lstStyle/>
          <a:p>
            <a:pPr>
              <a:lnSpc>
                <a:spcPts val="1999"/>
              </a:lnSpc>
            </a:pPr>
            <a:r>
              <a:rPr lang="en-US" sz="1666" dirty="0">
                <a:solidFill>
                  <a:srgbClr val="000000"/>
                </a:solidFill>
                <a:latin typeface="Telegraf"/>
                <a:ea typeface="Telegraf"/>
                <a:cs typeface="Telegraf"/>
                <a:sym typeface="Telegraf"/>
              </a:rPr>
              <a:t>DATE :-1/03/2025</a:t>
            </a:r>
          </a:p>
        </p:txBody>
      </p:sp>
      <p:sp>
        <p:nvSpPr>
          <p:cNvPr id="9" name="TextBox 9"/>
          <p:cNvSpPr txBox="1"/>
          <p:nvPr/>
        </p:nvSpPr>
        <p:spPr>
          <a:xfrm>
            <a:off x="427492" y="2781236"/>
            <a:ext cx="3823118" cy="1872307"/>
          </a:xfrm>
          <a:prstGeom prst="rect">
            <a:avLst/>
          </a:prstGeom>
        </p:spPr>
        <p:txBody>
          <a:bodyPr lIns="0" tIns="0" rIns="0" bIns="0" rtlCol="0" anchor="t">
            <a:spAutoFit/>
          </a:bodyPr>
          <a:lstStyle/>
          <a:p>
            <a:pPr>
              <a:lnSpc>
                <a:spcPts val="1999"/>
              </a:lnSpc>
            </a:pPr>
            <a:r>
              <a:rPr lang="en-US" sz="1666" dirty="0">
                <a:solidFill>
                  <a:srgbClr val="000000"/>
                </a:solidFill>
                <a:latin typeface="Telegraf"/>
                <a:ea typeface="Telegraf"/>
                <a:cs typeface="Telegraf"/>
                <a:sym typeface="Telegraf"/>
              </a:rPr>
              <a:t>STUDENT NAME(PRN) :-</a:t>
            </a:r>
          </a:p>
          <a:p>
            <a:pPr>
              <a:lnSpc>
                <a:spcPts val="1799"/>
              </a:lnSpc>
            </a:pPr>
            <a:endParaRPr lang="en-US" sz="1666" dirty="0">
              <a:solidFill>
                <a:srgbClr val="000000"/>
              </a:solidFill>
              <a:latin typeface="Telegraf"/>
              <a:ea typeface="Telegraf"/>
              <a:cs typeface="Telegraf"/>
              <a:sym typeface="Telegraf"/>
            </a:endParaRPr>
          </a:p>
          <a:p>
            <a:pPr>
              <a:lnSpc>
                <a:spcPts val="1799"/>
              </a:lnSpc>
            </a:pPr>
            <a:r>
              <a:rPr lang="en-US" sz="1499" dirty="0">
                <a:solidFill>
                  <a:srgbClr val="000000"/>
                </a:solidFill>
                <a:latin typeface="Telegraf"/>
                <a:ea typeface="Telegraf"/>
                <a:cs typeface="Telegraf"/>
                <a:sym typeface="Telegraf"/>
              </a:rPr>
              <a:t>  ●PRATIBHA CHAVAN(12410892)</a:t>
            </a:r>
          </a:p>
          <a:p>
            <a:pPr>
              <a:lnSpc>
                <a:spcPts val="1799"/>
              </a:lnSpc>
            </a:pPr>
            <a:r>
              <a:rPr lang="en-US" sz="1499" dirty="0">
                <a:solidFill>
                  <a:srgbClr val="000000"/>
                </a:solidFill>
                <a:latin typeface="Telegraf"/>
                <a:ea typeface="Telegraf"/>
                <a:cs typeface="Telegraf"/>
                <a:sym typeface="Telegraf"/>
              </a:rPr>
              <a:t>  ●PURVA CHAVAN (12410698)</a:t>
            </a:r>
          </a:p>
          <a:p>
            <a:pPr>
              <a:lnSpc>
                <a:spcPts val="1799"/>
              </a:lnSpc>
            </a:pPr>
            <a:r>
              <a:rPr lang="en-US" sz="1499" dirty="0">
                <a:solidFill>
                  <a:srgbClr val="000000"/>
                </a:solidFill>
                <a:latin typeface="Telegraf"/>
                <a:ea typeface="Telegraf"/>
                <a:cs typeface="Telegraf"/>
                <a:sym typeface="Telegraf"/>
              </a:rPr>
              <a:t>  ●SRUSHTI CHAVAN(12411932)</a:t>
            </a:r>
          </a:p>
          <a:p>
            <a:pPr>
              <a:lnSpc>
                <a:spcPts val="1799"/>
              </a:lnSpc>
            </a:pPr>
            <a:r>
              <a:rPr lang="en-US" sz="1499" dirty="0">
                <a:solidFill>
                  <a:srgbClr val="000000"/>
                </a:solidFill>
                <a:latin typeface="Telegraf"/>
                <a:ea typeface="Telegraf"/>
                <a:cs typeface="Telegraf"/>
                <a:sym typeface="Telegraf"/>
              </a:rPr>
              <a:t>  ●SHANTANU CHAVRE(12412955)</a:t>
            </a:r>
          </a:p>
          <a:p>
            <a:pPr>
              <a:lnSpc>
                <a:spcPts val="1799"/>
              </a:lnSpc>
            </a:pPr>
            <a:r>
              <a:rPr lang="en-US" sz="1499" dirty="0">
                <a:solidFill>
                  <a:srgbClr val="000000"/>
                </a:solidFill>
                <a:latin typeface="Telegraf"/>
                <a:ea typeface="Telegraf"/>
                <a:cs typeface="Telegraf"/>
                <a:sym typeface="Telegraf"/>
              </a:rPr>
              <a:t>  ●RIDHAM CHHAJER(12413703)</a:t>
            </a:r>
          </a:p>
          <a:p>
            <a:pPr>
              <a:lnSpc>
                <a:spcPts val="1799"/>
              </a:lnSpc>
            </a:pPr>
            <a:r>
              <a:rPr lang="en-US" sz="1499" dirty="0">
                <a:solidFill>
                  <a:srgbClr val="000000"/>
                </a:solidFill>
                <a:latin typeface="Telegraf"/>
                <a:ea typeface="Telegraf"/>
                <a:cs typeface="Telegraf"/>
                <a:sym typeface="Telegraf"/>
              </a:rPr>
              <a:t>  ●MANTHAN CHIDREWAR(12414267)</a:t>
            </a:r>
          </a:p>
        </p:txBody>
      </p:sp>
      <p:sp>
        <p:nvSpPr>
          <p:cNvPr id="10" name="TextBox 10"/>
          <p:cNvSpPr txBox="1"/>
          <p:nvPr/>
        </p:nvSpPr>
        <p:spPr>
          <a:xfrm>
            <a:off x="4927601" y="3263726"/>
            <a:ext cx="5158579" cy="512961"/>
          </a:xfrm>
          <a:prstGeom prst="rect">
            <a:avLst/>
          </a:prstGeom>
        </p:spPr>
        <p:txBody>
          <a:bodyPr wrap="square" lIns="0" tIns="0" rIns="0" bIns="0" rtlCol="0" anchor="t">
            <a:spAutoFit/>
          </a:bodyPr>
          <a:lstStyle/>
          <a:p>
            <a:pPr algn="ctr">
              <a:lnSpc>
                <a:spcPts val="1999"/>
              </a:lnSpc>
            </a:pPr>
            <a:r>
              <a:rPr lang="en-US" sz="1666" dirty="0">
                <a:solidFill>
                  <a:srgbClr val="000000"/>
                </a:solidFill>
                <a:latin typeface="Telegraf"/>
                <a:ea typeface="Telegraf"/>
                <a:cs typeface="Telegraf"/>
                <a:sym typeface="Telegraf"/>
              </a:rPr>
              <a:t>PROJECT GUIDE</a:t>
            </a:r>
          </a:p>
          <a:p>
            <a:pPr algn="ctr">
              <a:lnSpc>
                <a:spcPts val="1999"/>
              </a:lnSpc>
            </a:pPr>
            <a:r>
              <a:rPr lang="en-US" sz="1666" dirty="0">
                <a:solidFill>
                  <a:srgbClr val="000000"/>
                </a:solidFill>
                <a:latin typeface="Telegraf"/>
                <a:ea typeface="Telegraf"/>
                <a:cs typeface="Telegraf"/>
                <a:sym typeface="Telegraf"/>
              </a:rPr>
              <a:t>  Prof. VISHWESH DESHMUKH</a:t>
            </a:r>
          </a:p>
        </p:txBody>
      </p:sp>
      <p:sp>
        <p:nvSpPr>
          <p:cNvPr id="11" name="TextBox 11"/>
          <p:cNvSpPr txBox="1"/>
          <p:nvPr/>
        </p:nvSpPr>
        <p:spPr>
          <a:xfrm>
            <a:off x="2308801" y="5116456"/>
            <a:ext cx="7507725" cy="512961"/>
          </a:xfrm>
          <a:prstGeom prst="rect">
            <a:avLst/>
          </a:prstGeom>
        </p:spPr>
        <p:txBody>
          <a:bodyPr lIns="0" tIns="0" rIns="0" bIns="0" rtlCol="0" anchor="t">
            <a:spAutoFit/>
          </a:bodyPr>
          <a:lstStyle/>
          <a:p>
            <a:pPr algn="ctr">
              <a:lnSpc>
                <a:spcPts val="1999"/>
              </a:lnSpc>
            </a:pPr>
            <a:r>
              <a:rPr lang="en-US" sz="1666" dirty="0">
                <a:solidFill>
                  <a:srgbClr val="000000"/>
                </a:solidFill>
                <a:latin typeface="Telegraf"/>
                <a:ea typeface="Telegraf"/>
                <a:cs typeface="Telegraf"/>
                <a:sym typeface="Telegraf"/>
              </a:rPr>
              <a:t>DEPARTMENT OF ENGINEERING SCIENCES AND HUMANITIES (DESH) VISHWARKARMA INSTITUTE OF TECHNOLOGY, PUNE</a:t>
            </a:r>
          </a:p>
        </p:txBody>
      </p:sp>
      <p:sp>
        <p:nvSpPr>
          <p:cNvPr id="12" name="TextBox 12"/>
          <p:cNvSpPr txBox="1"/>
          <p:nvPr/>
        </p:nvSpPr>
        <p:spPr>
          <a:xfrm>
            <a:off x="-1021130" y="4718448"/>
            <a:ext cx="14587268" cy="230832"/>
          </a:xfrm>
          <a:prstGeom prst="rect">
            <a:avLst/>
          </a:prstGeom>
        </p:spPr>
        <p:txBody>
          <a:bodyPr wrap="square" lIns="0" tIns="0" rIns="0" bIns="0" rtlCol="0" anchor="t">
            <a:spAutoFit/>
          </a:bodyPr>
          <a:lstStyle/>
          <a:p>
            <a:pPr algn="ctr">
              <a:lnSpc>
                <a:spcPts val="1799"/>
              </a:lnSpc>
            </a:pPr>
            <a:r>
              <a:rPr lang="en-US" sz="1499" spc="14" dirty="0">
                <a:solidFill>
                  <a:srgbClr val="000000"/>
                </a:solidFill>
                <a:latin typeface="TT Rounds Condensed"/>
                <a:ea typeface="TT Rounds Condensed"/>
                <a:cs typeface="TT Rounds Condensed"/>
                <a:sym typeface="TT Rounds Condensed"/>
              </a:rPr>
              <a:t>_________________________________________________________________________________________________________</a:t>
            </a:r>
          </a:p>
        </p:txBody>
      </p:sp>
    </p:spTree>
    <p:extLst>
      <p:ext uri="{BB962C8B-B14F-4D97-AF65-F5344CB8AC3E}">
        <p14:creationId xmlns:p14="http://schemas.microsoft.com/office/powerpoint/2010/main" val="32627040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i="1" dirty="0"/>
              <a:t>INTRODUCTION</a:t>
            </a:r>
            <a:endParaRPr lang="en-IN" sz="6000" b="1" i="1" dirty="0"/>
          </a:p>
        </p:txBody>
      </p:sp>
      <p:sp>
        <p:nvSpPr>
          <p:cNvPr id="3" name="Content Placeholder 2"/>
          <p:cNvSpPr>
            <a:spLocks noGrp="1"/>
          </p:cNvSpPr>
          <p:nvPr>
            <p:ph idx="1"/>
          </p:nvPr>
        </p:nvSpPr>
        <p:spPr>
          <a:xfrm>
            <a:off x="746760" y="1560449"/>
            <a:ext cx="10515600" cy="4932426"/>
          </a:xfrm>
        </p:spPr>
        <p:txBody>
          <a:bodyPr>
            <a:normAutofit/>
          </a:bodyPr>
          <a:lstStyle/>
          <a:p>
            <a:r>
              <a:rPr lang="en-US" sz="2000" dirty="0"/>
              <a:t>Air pollution is a growing concern, significantly impacting both living conditions and workplace environments.</a:t>
            </a:r>
          </a:p>
          <a:p>
            <a:r>
              <a:rPr lang="en-US" sz="2000" dirty="0"/>
              <a:t>This Air Purifier project aims to develop a filtration system integrated with real-time air quality monitoring.</a:t>
            </a:r>
          </a:p>
          <a:p>
            <a:r>
              <a:rPr lang="en-US" sz="2000" dirty="0"/>
              <a:t>The system utilizes a *DH11 sensor* to detect environmental parameters and wirelessly transmit data to a custom mobile application. </a:t>
            </a:r>
          </a:p>
          <a:p>
            <a:r>
              <a:rPr lang="en-US" sz="2000" dirty="0"/>
              <a:t>Polluted air is drawn in using an exhaust fan, filtered, and then released as purified air. </a:t>
            </a:r>
          </a:p>
          <a:p>
            <a:r>
              <a:rPr lang="en-US" sz="2000" dirty="0"/>
              <a:t>The IoT-based system allows users to monitor air quality trends and optimize filtration settings accordingly. </a:t>
            </a:r>
          </a:p>
          <a:p>
            <a:r>
              <a:rPr lang="en-US" sz="2000" dirty="0"/>
              <a:t>It is especially beneficial in areas where hazardous pollutants like *PM, VOCs, and CO2* are prevalent. </a:t>
            </a:r>
          </a:p>
          <a:p>
            <a:r>
              <a:rPr lang="en-US" sz="2000" dirty="0"/>
              <a:t>Adaptive airflow control ensures efficient purification by adjusting fan speed based on pollution levels.</a:t>
            </a:r>
          </a:p>
          <a:p>
            <a:endParaRPr lang="en-IN" sz="2000" dirty="0"/>
          </a:p>
        </p:txBody>
      </p:sp>
    </p:spTree>
    <p:extLst>
      <p:ext uri="{BB962C8B-B14F-4D97-AF65-F5344CB8AC3E}">
        <p14:creationId xmlns:p14="http://schemas.microsoft.com/office/powerpoint/2010/main" val="3491384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6000" b="1" i="1" dirty="0"/>
              <a:t>OBJECTIVES</a:t>
            </a:r>
          </a:p>
        </p:txBody>
      </p:sp>
      <p:sp>
        <p:nvSpPr>
          <p:cNvPr id="3" name="Content Placeholder 2"/>
          <p:cNvSpPr>
            <a:spLocks noGrp="1"/>
          </p:cNvSpPr>
          <p:nvPr>
            <p:ph idx="1"/>
          </p:nvPr>
        </p:nvSpPr>
        <p:spPr>
          <a:xfrm>
            <a:off x="838200" y="1572768"/>
            <a:ext cx="10515600" cy="4920107"/>
          </a:xfrm>
        </p:spPr>
        <p:txBody>
          <a:bodyPr>
            <a:normAutofit/>
          </a:bodyPr>
          <a:lstStyle/>
          <a:p>
            <a:r>
              <a:rPr lang="en-US" sz="2400" dirty="0"/>
              <a:t>The goal is to create a smart, cost-effective, and energy-efficient device that helps improve air quality and safety. </a:t>
            </a:r>
          </a:p>
          <a:p>
            <a:r>
              <a:rPr lang="en-US" sz="2400" dirty="0"/>
              <a:t>This system will monitor the Air Quality Index (AQI) and send alerts when pollution levels become unsafe. </a:t>
            </a:r>
          </a:p>
          <a:p>
            <a:r>
              <a:rPr lang="en-US" sz="2400" dirty="0"/>
              <a:t>It will also detect harmful gas leaks, such as carbon monoxide and methane, to prevent health hazards. </a:t>
            </a:r>
          </a:p>
          <a:p>
            <a:r>
              <a:rPr lang="en-US" sz="2400" dirty="0"/>
              <a:t>In case of a fire, the device will automatically exhaust toxic fumes, making the environment safer. </a:t>
            </a:r>
          </a:p>
          <a:p>
            <a:r>
              <a:rPr lang="en-US" sz="2400" dirty="0"/>
              <a:t>Using IoT technology, it will optimize energy consumption while providing real-time updates through a mobile app, ensuring better air quality and safety in homes, offices, and industries.</a:t>
            </a:r>
            <a:endParaRPr lang="en-IN" sz="2400" dirty="0"/>
          </a:p>
        </p:txBody>
      </p:sp>
    </p:spTree>
    <p:extLst>
      <p:ext uri="{BB962C8B-B14F-4D97-AF65-F5344CB8AC3E}">
        <p14:creationId xmlns:p14="http://schemas.microsoft.com/office/powerpoint/2010/main" val="1021453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12800" y="1341371"/>
            <a:ext cx="3415193" cy="1590179"/>
          </a:xfrm>
          <a:prstGeom prst="rect">
            <a:avLst/>
          </a:prstGeom>
        </p:spPr>
        <p:txBody>
          <a:bodyPr lIns="0" tIns="0" rIns="0" bIns="0" rtlCol="0" anchor="t">
            <a:spAutoFit/>
          </a:bodyPr>
          <a:lstStyle/>
          <a:p>
            <a:pPr>
              <a:lnSpc>
                <a:spcPts val="6166"/>
              </a:lnSpc>
            </a:pPr>
            <a:r>
              <a:rPr lang="en-US" sz="3600" b="1">
                <a:solidFill>
                  <a:srgbClr val="FFFAF4"/>
                </a:solidFill>
                <a:latin typeface="Montserrat Bold"/>
                <a:ea typeface="Montserrat Bold"/>
                <a:cs typeface="Montserrat Bold"/>
                <a:sym typeface="Montserrat Bold"/>
              </a:rPr>
              <a:t>Components Used</a:t>
            </a:r>
          </a:p>
        </p:txBody>
      </p:sp>
      <p:sp>
        <p:nvSpPr>
          <p:cNvPr id="3" name="TextBox 3"/>
          <p:cNvSpPr txBox="1"/>
          <p:nvPr/>
        </p:nvSpPr>
        <p:spPr>
          <a:xfrm>
            <a:off x="4655087" y="500516"/>
            <a:ext cx="2640772" cy="6335068"/>
          </a:xfrm>
          <a:prstGeom prst="rect">
            <a:avLst/>
          </a:prstGeom>
        </p:spPr>
        <p:txBody>
          <a:bodyPr wrap="square" lIns="0" tIns="0" rIns="0" bIns="0" rtlCol="0" anchor="t">
            <a:spAutoFit/>
          </a:bodyPr>
          <a:lstStyle/>
          <a:p>
            <a:pPr algn="ctr">
              <a:lnSpc>
                <a:spcPts val="3840"/>
              </a:lnSpc>
            </a:pPr>
            <a:endParaRPr lang="en-US" sz="2133" b="1" dirty="0">
              <a:solidFill>
                <a:srgbClr val="1C402E"/>
              </a:solidFill>
              <a:latin typeface="Calibri (MS) Bold"/>
              <a:ea typeface="Calibri (MS) Bold"/>
              <a:cs typeface="Calibri (MS) Bold"/>
              <a:sym typeface="Calibri (MS) Bold"/>
            </a:endParaRPr>
          </a:p>
          <a:p>
            <a:pPr algn="ctr">
              <a:lnSpc>
                <a:spcPts val="3840"/>
              </a:lnSpc>
            </a:pPr>
            <a:r>
              <a:rPr lang="en-US" sz="2133" dirty="0">
                <a:latin typeface="Calibri (MS) Bold"/>
                <a:ea typeface="Calibri (MS) Bold"/>
                <a:cs typeface="Calibri (MS) Bold"/>
                <a:sym typeface="Calibri (MS) Bold"/>
              </a:rPr>
              <a:t>Exhaust fan </a:t>
            </a:r>
          </a:p>
          <a:p>
            <a:pPr algn="ctr">
              <a:lnSpc>
                <a:spcPts val="3840"/>
              </a:lnSpc>
            </a:pPr>
            <a:r>
              <a:rPr lang="en-US" sz="2133" dirty="0">
                <a:latin typeface="Calibri (MS) Bold"/>
                <a:ea typeface="Calibri (MS) Bold"/>
                <a:cs typeface="Calibri (MS) Bold"/>
                <a:sym typeface="Calibri (MS) Bold"/>
              </a:rPr>
              <a:t>Relay module </a:t>
            </a:r>
          </a:p>
          <a:p>
            <a:pPr algn="ctr">
              <a:lnSpc>
                <a:spcPts val="3840"/>
              </a:lnSpc>
            </a:pPr>
            <a:r>
              <a:rPr lang="en-US" sz="2133" dirty="0">
                <a:latin typeface="Calibri (MS) Bold"/>
                <a:ea typeface="Calibri (MS) Bold"/>
                <a:cs typeface="Calibri (MS) Bold"/>
                <a:sym typeface="Calibri (MS) Bold"/>
              </a:rPr>
              <a:t>HEPA filter </a:t>
            </a:r>
          </a:p>
          <a:p>
            <a:pPr algn="ctr">
              <a:lnSpc>
                <a:spcPts val="3840"/>
              </a:lnSpc>
            </a:pPr>
            <a:r>
              <a:rPr lang="en-US" sz="2133" dirty="0">
                <a:latin typeface="Calibri (MS) Bold"/>
                <a:ea typeface="Calibri (MS) Bold"/>
                <a:cs typeface="Calibri (MS) Bold"/>
                <a:sym typeface="Calibri (MS) Bold"/>
              </a:rPr>
              <a:t>MQ2 sensor</a:t>
            </a:r>
          </a:p>
          <a:p>
            <a:pPr algn="ctr">
              <a:lnSpc>
                <a:spcPts val="3840"/>
              </a:lnSpc>
            </a:pPr>
            <a:r>
              <a:rPr lang="en-US" sz="2133" dirty="0">
                <a:latin typeface="Calibri (MS) Bold"/>
                <a:ea typeface="Calibri (MS) Bold"/>
                <a:cs typeface="Calibri (MS) Bold"/>
                <a:sym typeface="Calibri (MS) Bold"/>
              </a:rPr>
              <a:t>DHT11 sensor</a:t>
            </a:r>
          </a:p>
          <a:p>
            <a:pPr algn="ctr">
              <a:lnSpc>
                <a:spcPts val="3840"/>
              </a:lnSpc>
            </a:pPr>
            <a:r>
              <a:rPr lang="en-US" sz="2133" dirty="0">
                <a:latin typeface="Calibri (MS) Bold"/>
                <a:ea typeface="Calibri (MS) Bold"/>
                <a:cs typeface="Calibri (MS) Bold"/>
                <a:sym typeface="Calibri (MS) Bold"/>
              </a:rPr>
              <a:t>ESP32 </a:t>
            </a:r>
            <a:r>
              <a:rPr lang="en-US" sz="2133" dirty="0" err="1">
                <a:latin typeface="Calibri (MS) Bold"/>
                <a:ea typeface="Calibri (MS) Bold"/>
                <a:cs typeface="Calibri (MS) Bold"/>
                <a:sym typeface="Calibri (MS) Bold"/>
              </a:rPr>
              <a:t>Dev</a:t>
            </a:r>
            <a:r>
              <a:rPr lang="en-US" sz="2133" dirty="0">
                <a:latin typeface="Calibri (MS) Bold"/>
                <a:ea typeface="Calibri (MS) Bold"/>
                <a:cs typeface="Calibri (MS) Bold"/>
                <a:sym typeface="Calibri (MS) Bold"/>
              </a:rPr>
              <a:t> module</a:t>
            </a:r>
          </a:p>
          <a:p>
            <a:pPr algn="ctr">
              <a:lnSpc>
                <a:spcPts val="3840"/>
              </a:lnSpc>
            </a:pPr>
            <a:r>
              <a:rPr lang="en-US" sz="2133" dirty="0">
                <a:latin typeface="Calibri (MS) Bold"/>
                <a:ea typeface="Calibri (MS) Bold"/>
                <a:cs typeface="Calibri (MS) Bold"/>
                <a:sym typeface="Calibri (MS) Bold"/>
              </a:rPr>
              <a:t>I2c module </a:t>
            </a:r>
          </a:p>
          <a:p>
            <a:pPr algn="ctr">
              <a:lnSpc>
                <a:spcPts val="3840"/>
              </a:lnSpc>
            </a:pPr>
            <a:r>
              <a:rPr lang="en-US" sz="2133" dirty="0">
                <a:latin typeface="Calibri (MS) Bold"/>
                <a:ea typeface="Calibri (MS) Bold"/>
                <a:cs typeface="Calibri (MS) Bold"/>
                <a:sym typeface="Calibri (MS) Bold"/>
              </a:rPr>
              <a:t>Servo motor</a:t>
            </a:r>
          </a:p>
          <a:p>
            <a:pPr algn="ctr">
              <a:lnSpc>
                <a:spcPts val="3840"/>
              </a:lnSpc>
            </a:pPr>
            <a:r>
              <a:rPr lang="en-US" sz="2133" dirty="0">
                <a:latin typeface="Calibri (MS) Bold"/>
                <a:ea typeface="Calibri (MS) Bold"/>
                <a:cs typeface="Calibri (MS) Bold"/>
                <a:sym typeface="Calibri (MS) Bold"/>
              </a:rPr>
              <a:t>L298 Motor driver</a:t>
            </a:r>
          </a:p>
          <a:p>
            <a:pPr algn="ctr">
              <a:lnSpc>
                <a:spcPts val="3840"/>
              </a:lnSpc>
            </a:pPr>
            <a:r>
              <a:rPr lang="en-US" sz="2133" dirty="0">
                <a:latin typeface="Calibri (MS) Bold"/>
                <a:ea typeface="Calibri (MS) Bold"/>
                <a:cs typeface="Calibri (MS) Bold"/>
                <a:sym typeface="Calibri (MS) Bold"/>
              </a:rPr>
              <a:t>LCD </a:t>
            </a:r>
          </a:p>
          <a:p>
            <a:pPr algn="ctr">
              <a:lnSpc>
                <a:spcPts val="3840"/>
              </a:lnSpc>
            </a:pPr>
            <a:r>
              <a:rPr lang="en-US" sz="2133" dirty="0">
                <a:latin typeface="Calibri (MS) Bold"/>
                <a:ea typeface="Calibri (MS) Bold"/>
                <a:cs typeface="Calibri (MS) Bold"/>
                <a:sym typeface="Calibri (MS) Bold"/>
              </a:rPr>
              <a:t>Breadboard</a:t>
            </a:r>
          </a:p>
          <a:p>
            <a:pPr algn="ctr">
              <a:lnSpc>
                <a:spcPts val="3840"/>
              </a:lnSpc>
            </a:pPr>
            <a:r>
              <a:rPr lang="en-US" sz="2133" dirty="0" err="1">
                <a:latin typeface="Calibri (MS) Bold"/>
                <a:ea typeface="Calibri (MS) Bold"/>
                <a:cs typeface="Calibri (MS) Bold"/>
                <a:sym typeface="Calibri (MS) Bold"/>
              </a:rPr>
              <a:t>Wifi</a:t>
            </a:r>
            <a:r>
              <a:rPr lang="en-US" sz="2133" dirty="0">
                <a:latin typeface="Calibri (MS) Bold"/>
                <a:ea typeface="Calibri (MS) Bold"/>
                <a:cs typeface="Calibri (MS) Bold"/>
                <a:sym typeface="Calibri (MS) Bold"/>
              </a:rPr>
              <a:t> module</a:t>
            </a:r>
          </a:p>
        </p:txBody>
      </p:sp>
      <p:sp>
        <p:nvSpPr>
          <p:cNvPr id="4" name="Freeform 4"/>
          <p:cNvSpPr/>
          <p:nvPr/>
        </p:nvSpPr>
        <p:spPr>
          <a:xfrm>
            <a:off x="418483" y="2530777"/>
            <a:ext cx="1413863" cy="1383479"/>
          </a:xfrm>
          <a:custGeom>
            <a:avLst/>
            <a:gdLst/>
            <a:ahLst/>
            <a:cxnLst/>
            <a:rect l="l" t="t" r="r" b="b"/>
            <a:pathLst>
              <a:path w="2120795" h="2075219">
                <a:moveTo>
                  <a:pt x="0" y="0"/>
                </a:moveTo>
                <a:lnTo>
                  <a:pt x="2120795" y="0"/>
                </a:lnTo>
                <a:lnTo>
                  <a:pt x="2120795" y="2075219"/>
                </a:lnTo>
                <a:lnTo>
                  <a:pt x="0" y="2075219"/>
                </a:lnTo>
                <a:lnTo>
                  <a:pt x="0" y="0"/>
                </a:lnTo>
                <a:close/>
              </a:path>
            </a:pathLst>
          </a:custGeom>
          <a:blipFill>
            <a:blip r:embed="rId2"/>
            <a:stretch>
              <a:fillRect t="-1888" b="-1888"/>
            </a:stretch>
          </a:blipFill>
        </p:spPr>
      </p:sp>
      <p:sp>
        <p:nvSpPr>
          <p:cNvPr id="5" name="Freeform 5"/>
          <p:cNvSpPr/>
          <p:nvPr/>
        </p:nvSpPr>
        <p:spPr>
          <a:xfrm>
            <a:off x="548640" y="500516"/>
            <a:ext cx="1430537" cy="1383479"/>
          </a:xfrm>
          <a:custGeom>
            <a:avLst/>
            <a:gdLst/>
            <a:ahLst/>
            <a:cxnLst/>
            <a:rect l="l" t="t" r="r" b="b"/>
            <a:pathLst>
              <a:path w="2145805" h="2075219">
                <a:moveTo>
                  <a:pt x="0" y="0"/>
                </a:moveTo>
                <a:lnTo>
                  <a:pt x="2145805" y="0"/>
                </a:lnTo>
                <a:lnTo>
                  <a:pt x="2145805" y="2075219"/>
                </a:lnTo>
                <a:lnTo>
                  <a:pt x="0" y="2075219"/>
                </a:lnTo>
                <a:lnTo>
                  <a:pt x="0" y="0"/>
                </a:lnTo>
                <a:close/>
              </a:path>
            </a:pathLst>
          </a:custGeom>
          <a:blipFill>
            <a:blip r:embed="rId3"/>
            <a:stretch>
              <a:fillRect/>
            </a:stretch>
          </a:blipFill>
        </p:spPr>
      </p:sp>
      <p:sp>
        <p:nvSpPr>
          <p:cNvPr id="6" name="Freeform 6"/>
          <p:cNvSpPr/>
          <p:nvPr/>
        </p:nvSpPr>
        <p:spPr>
          <a:xfrm>
            <a:off x="2700937" y="1244601"/>
            <a:ext cx="1413863" cy="1383479"/>
          </a:xfrm>
          <a:custGeom>
            <a:avLst/>
            <a:gdLst/>
            <a:ahLst/>
            <a:cxnLst/>
            <a:rect l="l" t="t" r="r" b="b"/>
            <a:pathLst>
              <a:path w="2120795" h="2075219">
                <a:moveTo>
                  <a:pt x="0" y="0"/>
                </a:moveTo>
                <a:lnTo>
                  <a:pt x="2120795" y="0"/>
                </a:lnTo>
                <a:lnTo>
                  <a:pt x="2120795" y="2075219"/>
                </a:lnTo>
                <a:lnTo>
                  <a:pt x="0" y="2075219"/>
                </a:lnTo>
                <a:lnTo>
                  <a:pt x="0" y="0"/>
                </a:lnTo>
                <a:close/>
              </a:path>
            </a:pathLst>
          </a:custGeom>
          <a:blipFill>
            <a:blip r:embed="rId4"/>
            <a:stretch>
              <a:fillRect l="-4134" r="-4134"/>
            </a:stretch>
          </a:blipFill>
        </p:spPr>
      </p:sp>
      <p:sp>
        <p:nvSpPr>
          <p:cNvPr id="7" name="TextBox 7"/>
          <p:cNvSpPr txBox="1"/>
          <p:nvPr/>
        </p:nvSpPr>
        <p:spPr>
          <a:xfrm>
            <a:off x="2788739" y="106680"/>
            <a:ext cx="6599101" cy="820738"/>
          </a:xfrm>
          <a:prstGeom prst="rect">
            <a:avLst/>
          </a:prstGeom>
        </p:spPr>
        <p:txBody>
          <a:bodyPr lIns="0" tIns="0" rIns="0" bIns="0" rtlCol="0" anchor="t">
            <a:spAutoFit/>
          </a:bodyPr>
          <a:lstStyle/>
          <a:p>
            <a:pPr algn="ctr">
              <a:lnSpc>
                <a:spcPts val="6400"/>
              </a:lnSpc>
            </a:pPr>
            <a:r>
              <a:rPr lang="en-US" sz="6000" b="1" i="1" dirty="0">
                <a:latin typeface="+mj-lt"/>
                <a:ea typeface="Montserrat Bold"/>
                <a:cs typeface="Montserrat Bold"/>
                <a:sym typeface="Montserrat Bold"/>
              </a:rPr>
              <a:t>Components</a:t>
            </a:r>
            <a:r>
              <a:rPr lang="en-US" sz="6000" b="1" i="1" dirty="0">
                <a:solidFill>
                  <a:srgbClr val="1C402E"/>
                </a:solidFill>
                <a:latin typeface="+mj-lt"/>
                <a:ea typeface="Montserrat Bold"/>
                <a:cs typeface="Montserrat Bold"/>
                <a:sym typeface="Montserrat Bold"/>
              </a:rPr>
              <a:t> </a:t>
            </a:r>
            <a:r>
              <a:rPr lang="en-US" sz="6000" b="1" i="1" dirty="0">
                <a:latin typeface="+mj-lt"/>
                <a:ea typeface="Montserrat Bold"/>
                <a:cs typeface="Montserrat Bold"/>
                <a:sym typeface="Montserrat Bold"/>
              </a:rPr>
              <a:t>Used</a:t>
            </a:r>
            <a:r>
              <a:rPr lang="en-US" sz="6000" b="1" i="1" dirty="0">
                <a:solidFill>
                  <a:srgbClr val="1C402E"/>
                </a:solidFill>
                <a:latin typeface="+mj-lt"/>
                <a:ea typeface="Montserrat Bold"/>
                <a:cs typeface="Montserrat Bold"/>
                <a:sym typeface="Montserrat Bold"/>
              </a:rPr>
              <a:t> </a:t>
            </a:r>
          </a:p>
        </p:txBody>
      </p:sp>
      <p:sp>
        <p:nvSpPr>
          <p:cNvPr id="10" name="Freeform 10"/>
          <p:cNvSpPr/>
          <p:nvPr/>
        </p:nvSpPr>
        <p:spPr>
          <a:xfrm>
            <a:off x="445325" y="4788720"/>
            <a:ext cx="1387020" cy="1383480"/>
          </a:xfrm>
          <a:custGeom>
            <a:avLst/>
            <a:gdLst/>
            <a:ahLst/>
            <a:cxnLst/>
            <a:rect l="l" t="t" r="r" b="b"/>
            <a:pathLst>
              <a:path w="2080530" h="2075220">
                <a:moveTo>
                  <a:pt x="0" y="0"/>
                </a:moveTo>
                <a:lnTo>
                  <a:pt x="2080530" y="0"/>
                </a:lnTo>
                <a:lnTo>
                  <a:pt x="2080530" y="2075220"/>
                </a:lnTo>
                <a:lnTo>
                  <a:pt x="0" y="2075220"/>
                </a:lnTo>
                <a:lnTo>
                  <a:pt x="0" y="0"/>
                </a:lnTo>
                <a:close/>
              </a:path>
            </a:pathLst>
          </a:custGeom>
          <a:blipFill>
            <a:blip r:embed="rId5"/>
            <a:stretch>
              <a:fillRect l="-8439" r="-8439"/>
            </a:stretch>
          </a:blipFill>
        </p:spPr>
      </p:sp>
      <p:sp>
        <p:nvSpPr>
          <p:cNvPr id="11" name="Freeform 11"/>
          <p:cNvSpPr/>
          <p:nvPr/>
        </p:nvSpPr>
        <p:spPr>
          <a:xfrm>
            <a:off x="10013438" y="565753"/>
            <a:ext cx="1403145" cy="1383479"/>
          </a:xfrm>
          <a:custGeom>
            <a:avLst/>
            <a:gdLst/>
            <a:ahLst/>
            <a:cxnLst/>
            <a:rect l="l" t="t" r="r" b="b"/>
            <a:pathLst>
              <a:path w="2104717" h="2075218">
                <a:moveTo>
                  <a:pt x="0" y="0"/>
                </a:moveTo>
                <a:lnTo>
                  <a:pt x="2104717" y="0"/>
                </a:lnTo>
                <a:lnTo>
                  <a:pt x="2104717" y="2075218"/>
                </a:lnTo>
                <a:lnTo>
                  <a:pt x="0" y="2075218"/>
                </a:lnTo>
                <a:lnTo>
                  <a:pt x="0" y="0"/>
                </a:lnTo>
                <a:close/>
              </a:path>
            </a:pathLst>
          </a:custGeom>
          <a:blipFill>
            <a:blip r:embed="rId6"/>
            <a:stretch>
              <a:fillRect t="-34692" b="-34692"/>
            </a:stretch>
          </a:blipFill>
        </p:spPr>
      </p:sp>
      <p:sp>
        <p:nvSpPr>
          <p:cNvPr id="13" name="Freeform 13"/>
          <p:cNvSpPr/>
          <p:nvPr/>
        </p:nvSpPr>
        <p:spPr>
          <a:xfrm>
            <a:off x="10503277" y="2526459"/>
            <a:ext cx="1434723" cy="1383479"/>
          </a:xfrm>
          <a:custGeom>
            <a:avLst/>
            <a:gdLst/>
            <a:ahLst/>
            <a:cxnLst/>
            <a:rect l="l" t="t" r="r" b="b"/>
            <a:pathLst>
              <a:path w="2152084" h="2075218">
                <a:moveTo>
                  <a:pt x="0" y="0"/>
                </a:moveTo>
                <a:lnTo>
                  <a:pt x="2152084" y="0"/>
                </a:lnTo>
                <a:lnTo>
                  <a:pt x="2152084" y="2075218"/>
                </a:lnTo>
                <a:lnTo>
                  <a:pt x="0" y="2075218"/>
                </a:lnTo>
                <a:lnTo>
                  <a:pt x="0" y="0"/>
                </a:lnTo>
                <a:close/>
              </a:path>
            </a:pathLst>
          </a:custGeom>
          <a:blipFill>
            <a:blip r:embed="rId7"/>
            <a:stretch>
              <a:fillRect l="-4981" r="-4981"/>
            </a:stretch>
          </a:blipFill>
        </p:spPr>
      </p:sp>
      <p:sp>
        <p:nvSpPr>
          <p:cNvPr id="14" name="Freeform 14"/>
          <p:cNvSpPr/>
          <p:nvPr/>
        </p:nvSpPr>
        <p:spPr>
          <a:xfrm>
            <a:off x="7321068" y="1518796"/>
            <a:ext cx="2692370" cy="1383479"/>
          </a:xfrm>
          <a:custGeom>
            <a:avLst/>
            <a:gdLst/>
            <a:ahLst/>
            <a:cxnLst/>
            <a:rect l="l" t="t" r="r" b="b"/>
            <a:pathLst>
              <a:path w="4038555" h="2075218">
                <a:moveTo>
                  <a:pt x="0" y="0"/>
                </a:moveTo>
                <a:lnTo>
                  <a:pt x="4038555" y="0"/>
                </a:lnTo>
                <a:lnTo>
                  <a:pt x="4038555" y="2075218"/>
                </a:lnTo>
                <a:lnTo>
                  <a:pt x="0" y="2075218"/>
                </a:lnTo>
                <a:lnTo>
                  <a:pt x="0" y="0"/>
                </a:lnTo>
                <a:close/>
              </a:path>
            </a:pathLst>
          </a:custGeom>
          <a:blipFill>
            <a:blip r:embed="rId8"/>
            <a:stretch>
              <a:fillRect l="-13411" r="-13411"/>
            </a:stretch>
          </a:blipFill>
        </p:spPr>
      </p:sp>
      <p:pic>
        <p:nvPicPr>
          <p:cNvPr id="17" name="Picture 16"/>
          <p:cNvPicPr/>
          <p:nvPr/>
        </p:nvPicPr>
        <p:blipFill rotWithShape="1">
          <a:blip r:embed="rId9" cstate="print">
            <a:extLst>
              <a:ext uri="{28A0092B-C50C-407E-A947-70E740481C1C}">
                <a14:useLocalDpi xmlns:a14="http://schemas.microsoft.com/office/drawing/2010/main" val="0"/>
              </a:ext>
            </a:extLst>
          </a:blip>
          <a:srcRect l="20588" t="32000" r="16912" b="30897"/>
          <a:stretch/>
        </p:blipFill>
        <p:spPr bwMode="auto">
          <a:xfrm>
            <a:off x="10020336" y="4788720"/>
            <a:ext cx="1927860" cy="1421765"/>
          </a:xfrm>
          <a:prstGeom prst="rect">
            <a:avLst/>
          </a:prstGeom>
          <a:ln>
            <a:noFill/>
          </a:ln>
          <a:extLst>
            <a:ext uri="{53640926-AAD7-44D8-BBD7-CCE9431645EC}">
              <a14:shadowObscured xmlns:a14="http://schemas.microsoft.com/office/drawing/2010/main"/>
            </a:ext>
          </a:extLst>
        </p:spPr>
      </p:pic>
      <p:pic>
        <p:nvPicPr>
          <p:cNvPr id="9" name="Picture 8"/>
          <p:cNvPicPr>
            <a:picLocks noChangeAspect="1"/>
          </p:cNvPicPr>
          <p:nvPr/>
        </p:nvPicPr>
        <p:blipFill>
          <a:blip r:embed="rId10"/>
          <a:stretch>
            <a:fillRect/>
          </a:stretch>
        </p:blipFill>
        <p:spPr>
          <a:xfrm rot="21413653">
            <a:off x="2372161" y="3231901"/>
            <a:ext cx="1956106" cy="1356073"/>
          </a:xfrm>
          <a:prstGeom prst="rect">
            <a:avLst/>
          </a:prstGeom>
        </p:spPr>
      </p:pic>
      <p:pic>
        <p:nvPicPr>
          <p:cNvPr id="12" name="Picture 11"/>
          <p:cNvPicPr>
            <a:picLocks noChangeAspect="1"/>
          </p:cNvPicPr>
          <p:nvPr/>
        </p:nvPicPr>
        <p:blipFill>
          <a:blip r:embed="rId11"/>
          <a:stretch>
            <a:fillRect/>
          </a:stretch>
        </p:blipFill>
        <p:spPr>
          <a:xfrm>
            <a:off x="7722953" y="3855318"/>
            <a:ext cx="1981372" cy="1444877"/>
          </a:xfrm>
          <a:prstGeom prst="rect">
            <a:avLst/>
          </a:prstGeom>
        </p:spPr>
      </p:pic>
    </p:spTree>
    <p:extLst>
      <p:ext uri="{BB962C8B-B14F-4D97-AF65-F5344CB8AC3E}">
        <p14:creationId xmlns:p14="http://schemas.microsoft.com/office/powerpoint/2010/main" val="3559858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i="1" dirty="0"/>
              <a:t>USES</a:t>
            </a:r>
            <a:endParaRPr lang="en-IN" sz="6000" b="1" i="1" dirty="0"/>
          </a:p>
        </p:txBody>
      </p:sp>
      <p:sp>
        <p:nvSpPr>
          <p:cNvPr id="3" name="Content Placeholder 2"/>
          <p:cNvSpPr>
            <a:spLocks noGrp="1"/>
          </p:cNvSpPr>
          <p:nvPr>
            <p:ph idx="1"/>
          </p:nvPr>
        </p:nvSpPr>
        <p:spPr/>
        <p:txBody>
          <a:bodyPr>
            <a:normAutofit lnSpcReduction="10000"/>
          </a:bodyPr>
          <a:lstStyle/>
          <a:p>
            <a:pPr lvl="0"/>
            <a:r>
              <a:rPr lang="en-US" dirty="0"/>
              <a:t>Exhaust Fan – Used for air circulation and ventilation, helps remove pollutants or excess heat.</a:t>
            </a:r>
          </a:p>
          <a:p>
            <a:pPr lvl="0"/>
            <a:r>
              <a:rPr lang="en-US" dirty="0"/>
              <a:t>MQ2 Gas Sensor – Detects gases like LPG, CO, smoke, and methane.</a:t>
            </a:r>
          </a:p>
          <a:p>
            <a:pPr lvl="0"/>
            <a:r>
              <a:rPr lang="en-US" dirty="0"/>
              <a:t>DHT11 Temperature &amp; Humidity Sensor – Measures temperature and humidity with decent accuracy</a:t>
            </a:r>
          </a:p>
          <a:p>
            <a:r>
              <a:rPr lang="en-US" dirty="0"/>
              <a:t>L298 Motor Driver – A stepper motor controller that provides control signals for precise motor movement in automation systems.</a:t>
            </a:r>
            <a:endParaRPr lang="en-IN" dirty="0"/>
          </a:p>
          <a:p>
            <a:pPr lvl="0"/>
            <a:r>
              <a:rPr lang="en-US" dirty="0"/>
              <a:t>ESP32 </a:t>
            </a:r>
            <a:r>
              <a:rPr lang="en-US" dirty="0" err="1"/>
              <a:t>Dev</a:t>
            </a:r>
            <a:r>
              <a:rPr lang="en-US" dirty="0"/>
              <a:t> Module V1 – A microcontroller with </a:t>
            </a:r>
            <a:r>
              <a:rPr lang="en-US" dirty="0" err="1"/>
              <a:t>WiFi</a:t>
            </a:r>
            <a:r>
              <a:rPr lang="en-US" dirty="0"/>
              <a:t> and Bluetooth capabilities, ideal for </a:t>
            </a:r>
            <a:r>
              <a:rPr lang="en-US" dirty="0" err="1"/>
              <a:t>IoT</a:t>
            </a:r>
            <a:r>
              <a:rPr lang="en-US" dirty="0"/>
              <a:t> and real-time data processing</a:t>
            </a:r>
          </a:p>
          <a:p>
            <a:r>
              <a:rPr lang="en-US" dirty="0"/>
              <a:t>Servo Motor – A motor with precise angular control.</a:t>
            </a:r>
          </a:p>
          <a:p>
            <a:pPr lvl="0"/>
            <a:endParaRPr lang="en-US" dirty="0"/>
          </a:p>
        </p:txBody>
      </p:sp>
    </p:spTree>
    <p:extLst>
      <p:ext uri="{BB962C8B-B14F-4D97-AF65-F5344CB8AC3E}">
        <p14:creationId xmlns:p14="http://schemas.microsoft.com/office/powerpoint/2010/main" val="3177239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i="1" dirty="0"/>
              <a:t>REASULTS AND DISCUSSION</a:t>
            </a:r>
            <a:endParaRPr lang="en-IN" sz="6000" b="1" i="1" dirty="0"/>
          </a:p>
        </p:txBody>
      </p:sp>
      <p:sp>
        <p:nvSpPr>
          <p:cNvPr id="3" name="Content Placeholder 2"/>
          <p:cNvSpPr>
            <a:spLocks noGrp="1"/>
          </p:cNvSpPr>
          <p:nvPr>
            <p:ph idx="1"/>
          </p:nvPr>
        </p:nvSpPr>
        <p:spPr>
          <a:xfrm>
            <a:off x="838200" y="1825625"/>
            <a:ext cx="4884683" cy="4351338"/>
          </a:xfrm>
        </p:spPr>
        <p:txBody>
          <a:bodyPr/>
          <a:lstStyle/>
          <a:p>
            <a:r>
              <a:rPr lang="en-US" dirty="0"/>
              <a:t>As soon as the air purification system is on the detection the temperature and air quality is displayed on LCD. Along with that exhausting the harmful air had started and the changes before and after the clearing of the gas can be seen on the </a:t>
            </a:r>
            <a:r>
              <a:rPr lang="en-US" dirty="0" err="1"/>
              <a:t>IoT</a:t>
            </a:r>
            <a:r>
              <a:rPr lang="en-US" dirty="0"/>
              <a:t> Platform.</a:t>
            </a:r>
            <a:endParaRPr lang="en-IN" dirty="0"/>
          </a:p>
        </p:txBody>
      </p:sp>
      <p:pic>
        <p:nvPicPr>
          <p:cNvPr id="5" name="Picture 4"/>
          <p:cNvPicPr>
            <a:picLocks noChangeAspect="1"/>
          </p:cNvPicPr>
          <p:nvPr/>
        </p:nvPicPr>
        <p:blipFill>
          <a:blip r:embed="rId2"/>
          <a:stretch>
            <a:fillRect/>
          </a:stretch>
        </p:blipFill>
        <p:spPr>
          <a:xfrm>
            <a:off x="5943600" y="1560786"/>
            <a:ext cx="6248400" cy="4616177"/>
          </a:xfrm>
          <a:prstGeom prst="rect">
            <a:avLst/>
          </a:prstGeom>
        </p:spPr>
      </p:pic>
    </p:spTree>
    <p:extLst>
      <p:ext uri="{BB962C8B-B14F-4D97-AF65-F5344CB8AC3E}">
        <p14:creationId xmlns:p14="http://schemas.microsoft.com/office/powerpoint/2010/main" val="3482967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509" y="209849"/>
            <a:ext cx="10534291" cy="1325563"/>
          </a:xfrm>
        </p:spPr>
        <p:txBody>
          <a:bodyPr>
            <a:normAutofit/>
          </a:bodyPr>
          <a:lstStyle/>
          <a:p>
            <a:pPr algn="ctr"/>
            <a:r>
              <a:rPr lang="en-US" sz="6000" b="1" i="1" dirty="0"/>
              <a:t>FLOW CHART</a:t>
            </a:r>
            <a:endParaRPr lang="en-IN" sz="6000" b="1" i="1" dirty="0"/>
          </a:p>
        </p:txBody>
      </p:sp>
      <p:pic>
        <p:nvPicPr>
          <p:cNvPr id="4" name="Content Placeholder 3"/>
          <p:cNvPicPr>
            <a:picLocks noGrp="1" noChangeAspect="1"/>
          </p:cNvPicPr>
          <p:nvPr>
            <p:ph idx="1"/>
          </p:nvPr>
        </p:nvPicPr>
        <p:blipFill>
          <a:blip r:embed="rId2"/>
          <a:stretch>
            <a:fillRect/>
          </a:stretch>
        </p:blipFill>
        <p:spPr>
          <a:xfrm>
            <a:off x="838200" y="1282160"/>
            <a:ext cx="10515600" cy="5265289"/>
          </a:xfrm>
          <a:prstGeom prst="rect">
            <a:avLst/>
          </a:prstGeom>
        </p:spPr>
      </p:pic>
    </p:spTree>
    <p:extLst>
      <p:ext uri="{BB962C8B-B14F-4D97-AF65-F5344CB8AC3E}">
        <p14:creationId xmlns:p14="http://schemas.microsoft.com/office/powerpoint/2010/main" val="2171188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i="1" dirty="0"/>
              <a:t>FEATURES</a:t>
            </a:r>
            <a:endParaRPr lang="en-IN" b="1" i="1" dirty="0"/>
          </a:p>
        </p:txBody>
      </p:sp>
      <p:sp>
        <p:nvSpPr>
          <p:cNvPr id="3" name="Content Placeholder 2"/>
          <p:cNvSpPr>
            <a:spLocks noGrp="1"/>
          </p:cNvSpPr>
          <p:nvPr>
            <p:ph idx="1"/>
          </p:nvPr>
        </p:nvSpPr>
        <p:spPr>
          <a:xfrm>
            <a:off x="838200" y="1599873"/>
            <a:ext cx="10515600" cy="4351338"/>
          </a:xfrm>
        </p:spPr>
        <p:txBody>
          <a:bodyPr>
            <a:normAutofit fontScale="85000" lnSpcReduction="10000"/>
          </a:bodyPr>
          <a:lstStyle/>
          <a:p>
            <a:pPr marL="0" indent="0" algn="just">
              <a:buNone/>
            </a:pPr>
            <a:endParaRPr lang="en-US" dirty="0">
              <a:latin typeface="Arial" panose="020B0604020202020204" pitchFamily="34" charset="0"/>
              <a:cs typeface="Arial" panose="020B0604020202020204" pitchFamily="34" charset="0"/>
            </a:endParaRPr>
          </a:p>
          <a:p>
            <a:pPr marL="342887" indent="-342887" algn="just">
              <a:buFont typeface="Wingdings" pitchFamily="2" charset="2"/>
              <a:buChar char="ü"/>
            </a:pPr>
            <a:r>
              <a:rPr lang="en-US" sz="3000" dirty="0">
                <a:cs typeface="Arial" panose="020B0604020202020204" pitchFamily="34" charset="0"/>
              </a:rPr>
              <a:t>Integration of ESP32 with AQI monitoring and Auto ON/OFF based on pollution level.</a:t>
            </a:r>
          </a:p>
          <a:p>
            <a:pPr marL="342887" indent="-342887" algn="just">
              <a:buFont typeface="Wingdings" pitchFamily="2" charset="2"/>
              <a:buChar char="ü"/>
            </a:pPr>
            <a:r>
              <a:rPr lang="en-US" sz="3000" dirty="0">
                <a:cs typeface="Arial" panose="020B0604020202020204" pitchFamily="34" charset="0"/>
              </a:rPr>
              <a:t>DIY filter for air purification and Exhaust Fan that adjust its </a:t>
            </a:r>
            <a:r>
              <a:rPr lang="en-US" sz="3000" dirty="0">
                <a:cs typeface="Arial" panose="020B0604020202020204" pitchFamily="34" charset="0"/>
              </a:rPr>
              <a:t>airflow rates dynamically based on pollution concentration and </a:t>
            </a:r>
            <a:r>
              <a:rPr lang="en-US" sz="3000" dirty="0" smtClean="0">
                <a:cs typeface="Arial" panose="020B0604020202020204" pitchFamily="34" charset="0"/>
              </a:rPr>
              <a:t>temperature.</a:t>
            </a:r>
          </a:p>
          <a:p>
            <a:pPr marL="342887" indent="-342887" algn="just">
              <a:buFont typeface="Wingdings" pitchFamily="2" charset="2"/>
              <a:buChar char="ü"/>
            </a:pPr>
            <a:r>
              <a:rPr lang="en-US" sz="3000" dirty="0" smtClean="0">
                <a:cs typeface="Arial" panose="020B0604020202020204" pitchFamily="34" charset="0"/>
              </a:rPr>
              <a:t>Optimized </a:t>
            </a:r>
            <a:r>
              <a:rPr lang="en-US" sz="3000" dirty="0">
                <a:cs typeface="Arial" panose="020B0604020202020204" pitchFamily="34" charset="0"/>
              </a:rPr>
              <a:t>power </a:t>
            </a:r>
            <a:r>
              <a:rPr lang="en-US" sz="3000">
                <a:cs typeface="Arial" panose="020B0604020202020204" pitchFamily="34" charset="0"/>
              </a:rPr>
              <a:t>consumption </a:t>
            </a:r>
            <a:r>
              <a:rPr lang="en-US" sz="3000" smtClean="0">
                <a:cs typeface="Arial" panose="020B0604020202020204" pitchFamily="34" charset="0"/>
              </a:rPr>
              <a:t>as compared </a:t>
            </a:r>
            <a:r>
              <a:rPr lang="en-US" sz="3000" dirty="0">
                <a:cs typeface="Arial" panose="020B0604020202020204" pitchFamily="34" charset="0"/>
              </a:rPr>
              <a:t>to traditional air purifiers</a:t>
            </a:r>
            <a:r>
              <a:rPr lang="en-US" sz="3000" dirty="0" smtClean="0">
                <a:cs typeface="Arial" panose="020B0604020202020204" pitchFamily="34" charset="0"/>
              </a:rPr>
              <a:t>.</a:t>
            </a:r>
          </a:p>
          <a:p>
            <a:pPr marL="342887" indent="-342887" algn="just">
              <a:buFont typeface="Wingdings" pitchFamily="2" charset="2"/>
              <a:buChar char="ü"/>
            </a:pPr>
            <a:r>
              <a:rPr lang="en-US" sz="3000" dirty="0" smtClean="0">
                <a:cs typeface="Arial" panose="020B0604020202020204" pitchFamily="34" charset="0"/>
              </a:rPr>
              <a:t> Utilizes </a:t>
            </a:r>
            <a:r>
              <a:rPr lang="en-US" sz="3000" dirty="0" err="1">
                <a:cs typeface="Arial" panose="020B0604020202020204" pitchFamily="34" charset="0"/>
              </a:rPr>
              <a:t>WiFi</a:t>
            </a:r>
            <a:r>
              <a:rPr lang="en-US" sz="3000" dirty="0">
                <a:cs typeface="Arial" panose="020B0604020202020204" pitchFamily="34" charset="0"/>
              </a:rPr>
              <a:t> and Bluetooth for real-time data transmission </a:t>
            </a:r>
            <a:r>
              <a:rPr lang="en-US" sz="3000" dirty="0" smtClean="0">
                <a:cs typeface="Arial" panose="020B0604020202020204" pitchFamily="34" charset="0"/>
              </a:rPr>
              <a:t>for better analysis and tracking.</a:t>
            </a:r>
            <a:endParaRPr lang="en-US" sz="3000" dirty="0">
              <a:cs typeface="Arial" panose="020B0604020202020204" pitchFamily="34" charset="0"/>
            </a:endParaRPr>
          </a:p>
          <a:p>
            <a:pPr marL="342887" indent="-342887" algn="just">
              <a:buFont typeface="Wingdings" pitchFamily="2" charset="2"/>
              <a:buChar char="ü"/>
            </a:pPr>
            <a:r>
              <a:rPr lang="en-US" sz="3000" dirty="0">
                <a:cs typeface="Arial" panose="020B0604020202020204" pitchFamily="34" charset="0"/>
              </a:rPr>
              <a:t>Can be monitored remotely via a mobile application</a:t>
            </a:r>
            <a:r>
              <a:rPr lang="en-US" sz="3000" dirty="0" smtClean="0">
                <a:cs typeface="Arial" panose="020B0604020202020204" pitchFamily="34" charset="0"/>
              </a:rPr>
              <a:t>.</a:t>
            </a:r>
          </a:p>
          <a:p>
            <a:pPr marL="342887" indent="-342887" algn="just">
              <a:buFont typeface="Wingdings" pitchFamily="2" charset="2"/>
              <a:buChar char="ü"/>
            </a:pPr>
            <a:r>
              <a:rPr lang="en-US" sz="3000" dirty="0" smtClean="0">
                <a:cs typeface="Arial" panose="020B0604020202020204" pitchFamily="34" charset="0"/>
              </a:rPr>
              <a:t>Temperature </a:t>
            </a:r>
            <a:r>
              <a:rPr lang="en-US" sz="3000" dirty="0">
                <a:cs typeface="Arial" panose="020B0604020202020204" pitchFamily="34" charset="0"/>
              </a:rPr>
              <a:t>readings from the DHT11 sensor can help in early fire detection.</a:t>
            </a:r>
            <a:endParaRPr lang="en-US" sz="3000" dirty="0">
              <a:cs typeface="Arial" panose="020B0604020202020204" pitchFamily="34" charset="0"/>
            </a:endParaRPr>
          </a:p>
        </p:txBody>
      </p:sp>
    </p:spTree>
    <p:extLst>
      <p:ext uri="{BB962C8B-B14F-4D97-AF65-F5344CB8AC3E}">
        <p14:creationId xmlns:p14="http://schemas.microsoft.com/office/powerpoint/2010/main" val="87809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i="1" dirty="0"/>
              <a:t>CONCLUSION</a:t>
            </a:r>
            <a:endParaRPr lang="en-IN" sz="6000" b="1" i="1" dirty="0"/>
          </a:p>
        </p:txBody>
      </p:sp>
      <p:sp>
        <p:nvSpPr>
          <p:cNvPr id="3" name="Content Placeholder 2"/>
          <p:cNvSpPr>
            <a:spLocks noGrp="1"/>
          </p:cNvSpPr>
          <p:nvPr>
            <p:ph idx="1"/>
          </p:nvPr>
        </p:nvSpPr>
        <p:spPr/>
        <p:txBody>
          <a:bodyPr/>
          <a:lstStyle/>
          <a:p>
            <a:r>
              <a:rPr lang="en-US" dirty="0"/>
              <a:t>In conclusion, air pollution severely impacts health, reducing life expectancy and increasing respiratory diseases. </a:t>
            </a:r>
          </a:p>
          <a:p>
            <a:r>
              <a:rPr lang="en-US" dirty="0"/>
              <a:t>This </a:t>
            </a:r>
            <a:r>
              <a:rPr lang="en-US" dirty="0" err="1"/>
              <a:t>IoT</a:t>
            </a:r>
            <a:r>
              <a:rPr lang="en-US" dirty="0"/>
              <a:t>-based air purifier, equipped with </a:t>
            </a:r>
            <a:r>
              <a:rPr lang="en-US" b="1" dirty="0"/>
              <a:t>MQ-2</a:t>
            </a:r>
            <a:r>
              <a:rPr lang="en-US" dirty="0"/>
              <a:t> and </a:t>
            </a:r>
            <a:r>
              <a:rPr lang="en-US" b="1" dirty="0"/>
              <a:t>DH-11</a:t>
            </a:r>
            <a:r>
              <a:rPr lang="en-US" dirty="0"/>
              <a:t> sensors and an </a:t>
            </a:r>
            <a:r>
              <a:rPr lang="en-US" b="1" dirty="0"/>
              <a:t>ESP32</a:t>
            </a:r>
            <a:r>
              <a:rPr lang="en-US" dirty="0"/>
              <a:t> microcontroller, detects harmful gases and displays them along with AQI levels. By temperature reading fire detection can be easy.</a:t>
            </a:r>
          </a:p>
          <a:p>
            <a:r>
              <a:rPr lang="en-US" dirty="0"/>
              <a:t> By providing real-time air quality monitoring and filtration along with smart automation, it enhances indoor air quality in homes, offices, hospitals, and industries. </a:t>
            </a:r>
            <a:endParaRPr lang="en-IN" dirty="0"/>
          </a:p>
        </p:txBody>
      </p:sp>
    </p:spTree>
    <p:extLst>
      <p:ext uri="{BB962C8B-B14F-4D97-AF65-F5344CB8AC3E}">
        <p14:creationId xmlns:p14="http://schemas.microsoft.com/office/powerpoint/2010/main" val="2328686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3912" y="2547608"/>
            <a:ext cx="10515600" cy="1325563"/>
          </a:xfrm>
        </p:spPr>
        <p:txBody>
          <a:bodyPr>
            <a:normAutofit/>
          </a:bodyPr>
          <a:lstStyle/>
          <a:p>
            <a:pPr algn="ctr"/>
            <a:r>
              <a:rPr lang="en-IN" sz="7000" b="1" i="1" dirty="0"/>
              <a:t>THANK YOU</a:t>
            </a:r>
          </a:p>
        </p:txBody>
      </p:sp>
    </p:spTree>
    <p:extLst>
      <p:ext uri="{BB962C8B-B14F-4D97-AF65-F5344CB8AC3E}">
        <p14:creationId xmlns:p14="http://schemas.microsoft.com/office/powerpoint/2010/main" val="25121705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TotalTime>
  <Words>675</Words>
  <Application>Microsoft Office PowerPoint</Application>
  <PresentationFormat>Widescreen</PresentationFormat>
  <Paragraphs>71</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Arial</vt:lpstr>
      <vt:lpstr>Calibri</vt:lpstr>
      <vt:lpstr>Calibri (MS) Bold</vt:lpstr>
      <vt:lpstr>Calibri Light</vt:lpstr>
      <vt:lpstr>Montserrat Bold</vt:lpstr>
      <vt:lpstr>Telegraf</vt:lpstr>
      <vt:lpstr>Telegraf Bold</vt:lpstr>
      <vt:lpstr>TT Rounds Condensed</vt:lpstr>
      <vt:lpstr>Wingdings</vt:lpstr>
      <vt:lpstr>Office Theme</vt:lpstr>
      <vt:lpstr>PowerPoint Presentation</vt:lpstr>
      <vt:lpstr>INTRODUCTION</vt:lpstr>
      <vt:lpstr>OBJECTIVES</vt:lpstr>
      <vt:lpstr>PowerPoint Presentation</vt:lpstr>
      <vt:lpstr>USES</vt:lpstr>
      <vt:lpstr>REASULTS AND DISCUSSION</vt:lpstr>
      <vt:lpstr>FLOW CHART</vt:lpstr>
      <vt:lpstr>FEATURES</vt:lpstr>
      <vt:lpstr>CONCLUSION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14</cp:revision>
  <dcterms:created xsi:type="dcterms:W3CDTF">2025-02-27T16:04:45Z</dcterms:created>
  <dcterms:modified xsi:type="dcterms:W3CDTF">2025-02-28T16:38:44Z</dcterms:modified>
</cp:coreProperties>
</file>